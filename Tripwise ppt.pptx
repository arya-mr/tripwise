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theme/themeOverride2.xml" ContentType="application/vnd.openxmlformats-officedocument.themeOverride+xml"/>
  <Override PartName="/ppt/theme/themeOverride3.xml" ContentType="application/vnd.openxmlformats-officedocument.themeOverride+xml"/>
  <Override PartName="/ppt/theme/themeOverride4.xml" ContentType="application/vnd.openxmlformats-officedocument.themeOverride+xml"/>
  <Override PartName="/ppt/theme/themeOverride5.xml" ContentType="application/vnd.openxmlformats-officedocument.themeOverride+xml"/>
  <Override PartName="/ppt/theme/themeOverride6.xml" ContentType="application/vnd.openxmlformats-officedocument.themeOverride+xml"/>
  <Override PartName="/ppt/theme/themeOverride7.xml" ContentType="application/vnd.openxmlformats-officedocument.themeOverride+xml"/>
  <Override PartName="/ppt/theme/themeOverride8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1"/>
  </p:notesMasterIdLst>
  <p:sldIdLst>
    <p:sldId id="256" r:id="rId2"/>
    <p:sldId id="257" r:id="rId3"/>
    <p:sldId id="374" r:id="rId4"/>
    <p:sldId id="372" r:id="rId5"/>
    <p:sldId id="373" r:id="rId6"/>
    <p:sldId id="371" r:id="rId7"/>
    <p:sldId id="375" r:id="rId8"/>
    <p:sldId id="376" r:id="rId9"/>
    <p:sldId id="377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0066"/>
    <a:srgbClr val="8000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3447" autoAdjust="0"/>
  </p:normalViewPr>
  <p:slideViewPr>
    <p:cSldViewPr snapToGrid="0">
      <p:cViewPr varScale="1">
        <p:scale>
          <a:sx n="51" d="100"/>
          <a:sy n="51" d="100"/>
        </p:scale>
        <p:origin x="888" y="4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19E05D0-A421-4EF3-8512-AD1148C82550}" type="datetimeFigureOut">
              <a:rPr lang="en-IN" smtClean="0"/>
              <a:t>24-10-2026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A1C5D9F-5FDD-4E04-AD07-37773298FBF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9667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7">
            <a:extLst>
              <a:ext uri="{FF2B5EF4-FFF2-40B4-BE49-F238E27FC236}">
                <a16:creationId xmlns:a16="http://schemas.microsoft.com/office/drawing/2014/main" id="{8D13192D-1816-F03A-9AF1-BBA902A8A17D}"/>
              </a:ext>
            </a:extLst>
          </p:cNvPr>
          <p:cNvSpPr>
            <a:spLocks noChangeArrowheads="1"/>
          </p:cNvSpPr>
          <p:nvPr/>
        </p:nvSpPr>
        <p:spPr bwMode="auto">
          <a:xfrm>
            <a:off x="914400" y="2393950"/>
            <a:ext cx="10363200" cy="109538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618" y="0"/>
                </a:lnTo>
                <a:lnTo>
                  <a:pt x="618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990600"/>
            <a:ext cx="10363200" cy="1371600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30400" y="3429000"/>
            <a:ext cx="9347200" cy="16002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14B6A37-AD04-C654-AC92-D9CC3ADF0A5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914400" y="6248400"/>
            <a:ext cx="25400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E58272B-7D6B-F3CE-953F-1079FFA8D80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4165600" y="6248400"/>
            <a:ext cx="3860800" cy="457200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55F3314-4EF0-936B-77EE-175E9EF6B55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8737600" y="6248400"/>
            <a:ext cx="2540000" cy="457200"/>
          </a:xfrm>
        </p:spPr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8F95DA7-9E0E-467D-A139-0471DC1777CB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509654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4A88B164-965D-9E09-9E7D-16374A9EADD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EE044AE8-B23C-D8C6-4D87-EADCB1C0F02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BE04F0FC-AAC5-064C-CDAD-FF80D73B385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C2143B-610F-499C-A392-DFFBE135A7B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226746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9E3D50AC-D896-487B-A964-4F2362A2FCEC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1860975C-7E6F-6BD7-97FB-B68EFA315FE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925DB3BD-FB8F-C610-9A37-B3ADF214A3E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5C213C-AC18-4D5A-BA73-4550FF50B842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5435454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56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1251" y="1752600"/>
            <a:ext cx="5232400" cy="42672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1CC1F139-34C5-A295-F629-88EF76019A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AB20EB37-7A2A-E49D-01DB-6418D7037D0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C4FAAEF5-CC11-F779-153E-E74E333E5AC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A8ED4EA-E359-45F1-B86A-A40772B25C2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12587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3B4E764D-F83F-9CC9-8E38-FEA9647AB75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ABF83D4-B422-239C-8C38-4509A66ADBE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781238FA-AFA9-8287-25C9-98D6042CFD3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37AD66-1F60-49BE-A2E9-D91D10CB91F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389315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6">
            <a:extLst>
              <a:ext uri="{FF2B5EF4-FFF2-40B4-BE49-F238E27FC236}">
                <a16:creationId xmlns:a16="http://schemas.microsoft.com/office/drawing/2014/main" id="{B80D49F1-7BF0-A0A8-0C0A-9B4F1788B3B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" name="Rectangle 7">
            <a:extLst>
              <a:ext uri="{FF2B5EF4-FFF2-40B4-BE49-F238E27FC236}">
                <a16:creationId xmlns:a16="http://schemas.microsoft.com/office/drawing/2014/main" id="{BDDDAEBE-B0DA-0212-414B-C9FFC612D8C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5" name="Rectangle 8">
            <a:extLst>
              <a:ext uri="{FF2B5EF4-FFF2-40B4-BE49-F238E27FC236}">
                <a16:creationId xmlns:a16="http://schemas.microsoft.com/office/drawing/2014/main" id="{7430D5C8-DD0F-C0FD-D016-9055C67C40F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583B680-F650-469F-A231-392F163461F6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268195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>
            <a:extLst>
              <a:ext uri="{FF2B5EF4-FFF2-40B4-BE49-F238E27FC236}">
                <a16:creationId xmlns:a16="http://schemas.microsoft.com/office/drawing/2014/main" id="{90400DB2-066A-4CAE-071C-1EAF9DDB727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3" name="Rectangle 7">
            <a:extLst>
              <a:ext uri="{FF2B5EF4-FFF2-40B4-BE49-F238E27FC236}">
                <a16:creationId xmlns:a16="http://schemas.microsoft.com/office/drawing/2014/main" id="{EAB14BBF-3825-C6B5-25F7-8686AAD7C353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" name="Rectangle 8">
            <a:extLst>
              <a:ext uri="{FF2B5EF4-FFF2-40B4-BE49-F238E27FC236}">
                <a16:creationId xmlns:a16="http://schemas.microsoft.com/office/drawing/2014/main" id="{784D417B-4541-5C9D-274F-9952E6F120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D537315-F462-4C74-88B4-A900525A3FAA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7779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70B1A011-C2F2-C9FC-9DD8-A4E6A00AA40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7B4C95F2-7321-CEE1-4FD5-BE988C3BAE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24AB3D0A-7C9E-40E8-0F27-0C737BD346F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79B2829-DA13-4801-8FBD-6D5729CB9593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014955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531D201-6E7B-DD71-C865-2CC76825209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6" name="Rectangle 7">
            <a:extLst>
              <a:ext uri="{FF2B5EF4-FFF2-40B4-BE49-F238E27FC236}">
                <a16:creationId xmlns:a16="http://schemas.microsoft.com/office/drawing/2014/main" id="{3A474AB6-A9CC-8EC3-60F9-BBEDD90B035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7" name="Rectangle 8">
            <a:extLst>
              <a:ext uri="{FF2B5EF4-FFF2-40B4-BE49-F238E27FC236}">
                <a16:creationId xmlns:a16="http://schemas.microsoft.com/office/drawing/2014/main" id="{414DF99B-1424-E931-A0EF-A2CCFECC39D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5B0EEF8-84AE-4BCB-9844-5B22523396C9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759827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DE0854C1-7207-EF75-A61A-B4AF54A5D72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023D97B6-49D4-67F3-668F-9724FD35233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EE4FA587-585B-1C1F-066D-B211962B0DB9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367E6EB-B6CA-430B-8761-75C737CF7AF1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94769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65118" y="304800"/>
            <a:ext cx="2669116" cy="5715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5651" y="304800"/>
            <a:ext cx="7806267" cy="57150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E1D0F6A3-93FF-6A17-402C-31256BC4571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5" name="Rectangle 7">
            <a:extLst>
              <a:ext uri="{FF2B5EF4-FFF2-40B4-BE49-F238E27FC236}">
                <a16:creationId xmlns:a16="http://schemas.microsoft.com/office/drawing/2014/main" id="{FB63A9F3-AD04-ED6E-E628-12170F70CE75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6" name="Rectangle 8">
            <a:extLst>
              <a:ext uri="{FF2B5EF4-FFF2-40B4-BE49-F238E27FC236}">
                <a16:creationId xmlns:a16="http://schemas.microsoft.com/office/drawing/2014/main" id="{01BD68DD-46F8-E148-C9DD-BDF1256D37AB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031276A-AAE7-4DAF-B5DC-CD9EE96B703D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8819536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7AD52653-E1AE-07CB-DCC9-CD2593D84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766233" y="304801"/>
            <a:ext cx="10668000" cy="1216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B93799-0450-059C-B337-0FA5C4C3731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755651" y="1752600"/>
            <a:ext cx="10668000" cy="426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AutoShape 4">
            <a:extLst>
              <a:ext uri="{FF2B5EF4-FFF2-40B4-BE49-F238E27FC236}">
                <a16:creationId xmlns:a16="http://schemas.microsoft.com/office/drawing/2014/main" id="{6B43BBB4-1099-054A-DDAC-B357DD3DA5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812800" y="1566864"/>
            <a:ext cx="10610851" cy="109537"/>
          </a:xfrm>
          <a:custGeom>
            <a:avLst/>
            <a:gdLst>
              <a:gd name="T0" fmla="*/ 0 w 1000"/>
              <a:gd name="T1" fmla="*/ 0 h 1000"/>
              <a:gd name="T2" fmla="*/ 2147483646 w 1000"/>
              <a:gd name="T3" fmla="*/ 0 h 1000"/>
              <a:gd name="T4" fmla="*/ 2147483646 w 1000"/>
              <a:gd name="T5" fmla="*/ 2147483646 h 1000"/>
              <a:gd name="T6" fmla="*/ 0 w 1000"/>
              <a:gd name="T7" fmla="*/ 2147483646 h 1000"/>
              <a:gd name="T8" fmla="*/ 0 w 1000"/>
              <a:gd name="T9" fmla="*/ 0 h 1000"/>
              <a:gd name="T10" fmla="*/ 2147483646 w 1000"/>
              <a:gd name="T11" fmla="*/ 0 h 10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0" t="0" r="r" b="b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lnTo>
                  <a:pt x="0" y="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accent2"/>
          </a:solidFill>
          <a:ln w="9525">
            <a:solidFill>
              <a:schemeClr val="accent2"/>
            </a:solidFill>
            <a:round/>
            <a:headEnd/>
            <a:tailEnd/>
          </a:ln>
        </p:spPr>
        <p:txBody>
          <a:bodyPr/>
          <a:lstStyle/>
          <a:p>
            <a:endParaRPr lang="en-IN" sz="1800"/>
          </a:p>
        </p:txBody>
      </p:sp>
      <p:sp>
        <p:nvSpPr>
          <p:cNvPr id="1029" name="Line 5">
            <a:extLst>
              <a:ext uri="{FF2B5EF4-FFF2-40B4-BE49-F238E27FC236}">
                <a16:creationId xmlns:a16="http://schemas.microsoft.com/office/drawing/2014/main" id="{986B2119-A42B-45B1-6DCF-EF7CC29004DD}"/>
              </a:ext>
            </a:extLst>
          </p:cNvPr>
          <p:cNvSpPr>
            <a:spLocks noChangeShapeType="1"/>
          </p:cNvSpPr>
          <p:nvPr/>
        </p:nvSpPr>
        <p:spPr bwMode="auto">
          <a:xfrm flipV="1">
            <a:off x="812800" y="6172200"/>
            <a:ext cx="10566400" cy="0"/>
          </a:xfrm>
          <a:prstGeom prst="line">
            <a:avLst/>
          </a:prstGeom>
          <a:noFill/>
          <a:ln w="3175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IN" sz="1800"/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6C6B070B-4AFE-871D-87ED-86092999D2D8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8128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 dirty="0"/>
              <a:t>CS19811-Phase-II-Final Viva</a:t>
            </a:r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FA33AF8B-6600-80BC-AB7A-98E95CF9D742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200">
                <a:cs typeface="+mn-cs"/>
              </a:defRPr>
            </a:lvl1pPr>
          </a:lstStyle>
          <a:p>
            <a:pPr>
              <a:defRPr/>
            </a:pPr>
            <a:r>
              <a:rPr lang="en-US"/>
              <a:t>Department of Computer Science and Engineering</a:t>
            </a:r>
          </a:p>
        </p:txBody>
      </p:sp>
      <p:sp>
        <p:nvSpPr>
          <p:cNvPr id="4104" name="Rectangle 8">
            <a:extLst>
              <a:ext uri="{FF2B5EF4-FFF2-40B4-BE49-F238E27FC236}">
                <a16:creationId xmlns:a16="http://schemas.microsoft.com/office/drawing/2014/main" id="{1BD9409A-4B38-651E-F54D-ABAB5C4CEBAD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6416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/>
            </a:lvl1pPr>
          </a:lstStyle>
          <a:p>
            <a:pPr>
              <a:defRPr/>
            </a:pPr>
            <a:fld id="{756AFA5A-A15D-402B-9810-66A481E98194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080127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800">
          <a:solidFill>
            <a:schemeClr val="tx2"/>
          </a:solidFill>
          <a:latin typeface="Verdana" pitchFamily="34" charset="0"/>
        </a:defRPr>
      </a:lvl9pPr>
    </p:titleStyle>
    <p:bodyStyle>
      <a:lvl1pPr marL="469900" indent="-46990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908050" indent="-43656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</a:defRPr>
      </a:lvl2pPr>
      <a:lvl3pPr marL="1304925" indent="-39528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o"/>
        <a:defRPr sz="2300">
          <a:solidFill>
            <a:schemeClr val="tx1"/>
          </a:solidFill>
          <a:latin typeface="+mn-lt"/>
        </a:defRPr>
      </a:lvl3pPr>
      <a:lvl4pPr marL="1693863" indent="-387350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n"/>
        <a:defRPr sz="2000">
          <a:solidFill>
            <a:schemeClr val="tx1"/>
          </a:solidFill>
          <a:latin typeface="+mn-lt"/>
        </a:defRPr>
      </a:lvl4pPr>
      <a:lvl5pPr marL="2093913" indent="-398463" algn="l" rtl="0" eaLnBrk="0" fontAlgn="base" hangingPunct="0">
        <a:spcBef>
          <a:spcPct val="25000"/>
        </a:spcBef>
        <a:spcAft>
          <a:spcPct val="0"/>
        </a:spcAft>
        <a:buClr>
          <a:schemeClr val="accent2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511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30083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4655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922713" indent="-398463" algn="l" rtl="0" fontAlgn="base">
        <a:spcBef>
          <a:spcPct val="25000"/>
        </a:spcBef>
        <a:spcAft>
          <a:spcPct val="0"/>
        </a:spcAft>
        <a:buClr>
          <a:schemeClr val="accent2"/>
        </a:buClr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4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5.xml"/><Relationship Id="rId4" Type="http://schemas.openxmlformats.org/officeDocument/2006/relationships/image" Target="../media/image3.sv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>
            <a:extLst>
              <a:ext uri="{FF2B5EF4-FFF2-40B4-BE49-F238E27FC236}">
                <a16:creationId xmlns:a16="http://schemas.microsoft.com/office/drawing/2014/main" id="{D41A2FBB-F55B-9BAA-4EBD-7D6AD7B1D9C0}"/>
              </a:ext>
            </a:extLst>
          </p:cNvPr>
          <p:cNvSpPr txBox="1">
            <a:spLocks/>
          </p:cNvSpPr>
          <p:nvPr/>
        </p:nvSpPr>
        <p:spPr>
          <a:xfrm>
            <a:off x="840362" y="3057378"/>
            <a:ext cx="11037605" cy="144930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lnSpc>
                <a:spcPct val="150000"/>
              </a:lnSpc>
            </a:pPr>
            <a:endParaRPr lang="en-IN" sz="2000" b="1" dirty="0">
              <a:solidFill>
                <a:srgbClr val="660066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11" name="TextBox 1">
            <a:extLst>
              <a:ext uri="{FF2B5EF4-FFF2-40B4-BE49-F238E27FC236}">
                <a16:creationId xmlns:a16="http://schemas.microsoft.com/office/drawing/2014/main" id="{19A39F01-D00C-AF01-020F-6FE15F5B420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920672" y="5137031"/>
            <a:ext cx="2602634" cy="10156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30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o"/>
              <a:defRPr sz="23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chemeClr val="accent2"/>
              </a:buClr>
              <a:buFont typeface="Wingdings" panose="05000000000000000000" pitchFamily="2" charset="2"/>
              <a:buChar char="n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5000"/>
              </a:spcBef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5000"/>
              </a:spcBef>
              <a:spcAft>
                <a:spcPct val="0"/>
              </a:spcAft>
              <a:buClr>
                <a:schemeClr val="accent2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NAME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Arya  M R</a:t>
            </a:r>
          </a:p>
          <a:p>
            <a:pPr>
              <a:spcBef>
                <a:spcPct val="0"/>
              </a:spcBef>
              <a:buClrTx/>
              <a:buNone/>
            </a:pP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REG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IN" altLang="en-US" sz="20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241901009 </a:t>
            </a:r>
            <a:br>
              <a:rPr lang="en-IN" alt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IN" altLang="en-US" sz="2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itle 1">
            <a:extLst>
              <a:ext uri="{FF2B5EF4-FFF2-40B4-BE49-F238E27FC236}">
                <a16:creationId xmlns:a16="http://schemas.microsoft.com/office/drawing/2014/main" id="{321851EC-AC90-1CBE-0738-0329685AB2AB}"/>
              </a:ext>
            </a:extLst>
          </p:cNvPr>
          <p:cNvSpPr txBox="1">
            <a:spLocks/>
          </p:cNvSpPr>
          <p:nvPr/>
        </p:nvSpPr>
        <p:spPr>
          <a:xfrm>
            <a:off x="708891" y="1213137"/>
            <a:ext cx="10515600" cy="10603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Department of Computer Science and Engineering </a:t>
            </a:r>
          </a:p>
          <a:p>
            <a:r>
              <a:rPr lang="en-IN" sz="3200" b="1" dirty="0">
                <a:solidFill>
                  <a:srgbClr val="00206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(Cyber Security)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12ABC60-AF57-3F89-6270-EF5EDC1DC02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339" y="194915"/>
            <a:ext cx="2689499" cy="868776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3554362-B1DE-2822-6468-A8A459C7E4BD}"/>
              </a:ext>
            </a:extLst>
          </p:cNvPr>
          <p:cNvSpPr txBox="1"/>
          <p:nvPr/>
        </p:nvSpPr>
        <p:spPr>
          <a:xfrm>
            <a:off x="2401077" y="3244334"/>
            <a:ext cx="76853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b="1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TRIP WISE – Smart Trip Planner &amp; Budget estimator</a:t>
            </a:r>
          </a:p>
        </p:txBody>
      </p:sp>
    </p:spTree>
    <p:extLst>
      <p:ext uri="{BB962C8B-B14F-4D97-AF65-F5344CB8AC3E}">
        <p14:creationId xmlns:p14="http://schemas.microsoft.com/office/powerpoint/2010/main" val="423313927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8E018A-016D-CA20-9228-A14BE7D004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INTRODUCTION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F36FF0-FD4A-EE78-6CA2-4ADCB6BA1B6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1" y="1838960"/>
            <a:ext cx="10668000" cy="4180840"/>
          </a:xfrm>
        </p:spPr>
        <p:txBody>
          <a:bodyPr/>
          <a:lstStyle/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TripWise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 simple web app for planning trips around India.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explore destinations and estimate trip costs.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Users can create a day-by-day itinerary and save trips in their browser.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includes dark mode and options to download or print a trip summary.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built with HTML, CSS, and JavaScript, with no account required.</a:t>
            </a: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583869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721B2E-B8C7-05B9-5F04-C112E1E342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1ED4AC-7B43-3850-D243-BCD132E2C20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 / OBJECTIVE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A5961F-8A9B-F95A-BB8A-355C5A48346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55650" y="1752601"/>
            <a:ext cx="10329117" cy="4153678"/>
          </a:xfrm>
        </p:spPr>
        <p:txBody>
          <a:bodyPr/>
          <a:lstStyle/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Statement: </a:t>
            </a:r>
          </a:p>
          <a:p>
            <a:pPr marL="438150" lvl="1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planning can be difficult when destination research, budget estimation, and itinerary organization are handled separately.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TripWise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addresses this by bringing these tasks together in one simple web app, helping users plan trips and track estimated costs in one place.</a:t>
            </a:r>
          </a:p>
          <a:p>
            <a:pPr algn="just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Objective: </a:t>
            </a:r>
          </a:p>
          <a:p>
            <a:pPr marL="438150" lvl="1" indent="0" algn="just">
              <a:buNone/>
            </a:pP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objective of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TripWise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to make trip planning easier by helping users explore destinations, estimate travel expenses, organize daily activities, and save or share their trip plans—all through a simple, responsive web app.</a:t>
            </a:r>
          </a:p>
          <a:p>
            <a:pPr marL="438150" lvl="1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5264290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F757CF5D-142D-473C-E195-36EB23B993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5ED407-BAD9-643C-0875-B881EC2A5E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7F5649-1329-E9A0-92EE-5156008061E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Technologies Used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HTML, CSS, and JavaScript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build the responsive website and interactive features.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Node.js and Express.js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run the backend server and provide the REST API.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Fetch API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connects the web page to the backend.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JSON file storage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saves trips in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trips.json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; this project does not use a database.</a:t>
            </a:r>
          </a:p>
          <a:p>
            <a:pPr lvl="0"/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Browser </a:t>
            </a:r>
            <a:r>
              <a:rPr lang="en-IN" sz="2400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localStorage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remembers the selected theme.</a:t>
            </a:r>
            <a:endParaRPr lang="en-IN" sz="2100" dirty="0"/>
          </a:p>
          <a:p>
            <a:pPr marL="0" indent="0">
              <a:buNone/>
            </a:pPr>
            <a:endParaRPr lang="en-IN" sz="21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17216387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3009753-C4D8-9F9F-5F3B-413B1F1F1F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C0CA3-23DD-EDD9-49C4-2C279BCB23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6233" y="304801"/>
            <a:ext cx="10668000" cy="908179"/>
          </a:xfrm>
        </p:spPr>
        <p:txBody>
          <a:bodyPr/>
          <a:lstStyle/>
          <a:p>
            <a:r>
              <a:rPr lang="en-IN" alt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INTERNSHIP OUTCOME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Content Placeholder 10">
            <a:extLst>
              <a:ext uri="{FF2B5EF4-FFF2-40B4-BE49-F238E27FC236}">
                <a16:creationId xmlns:a16="http://schemas.microsoft.com/office/drawing/2014/main" id="{27937C91-AAF7-CF54-23C8-48D8C3A6A80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996751" y="1752599"/>
            <a:ext cx="8014996" cy="4330959"/>
          </a:xfrm>
        </p:spPr>
      </p:pic>
    </p:spTree>
    <p:extLst>
      <p:ext uri="{BB962C8B-B14F-4D97-AF65-F5344CB8AC3E}">
        <p14:creationId xmlns:p14="http://schemas.microsoft.com/office/powerpoint/2010/main" val="205103074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34088EE-409A-43D4-40D1-E46BE8E6B81A}"/>
              </a:ext>
            </a:extLst>
          </p:cNvPr>
          <p:cNvSpPr txBox="1"/>
          <p:nvPr/>
        </p:nvSpPr>
        <p:spPr>
          <a:xfrm>
            <a:off x="1996751" y="587829"/>
            <a:ext cx="786570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WEBSITE MODULES</a:t>
            </a:r>
            <a:endParaRPr lang="en-IN" sz="3200" b="1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5658B78-5014-BB3D-1CCD-25E652179742}"/>
              </a:ext>
            </a:extLst>
          </p:cNvPr>
          <p:cNvSpPr txBox="1"/>
          <p:nvPr/>
        </p:nvSpPr>
        <p:spPr>
          <a:xfrm>
            <a:off x="923731" y="2108718"/>
            <a:ext cx="10543592" cy="27243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Website Modules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Destination Explorer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search, filter, and browse destinations.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Planner &amp; Budget Calculator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enter trip details and estimate costs.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Itinerary Manager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create, edit, or clear daily activities.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Saved Trips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view, update, and delete saved trip plans.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Trip Summary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download or print a trip summary.</a:t>
            </a:r>
          </a:p>
          <a:p>
            <a:pPr marL="342900" lvl="0" indent="-342900">
              <a:buFont typeface="Wingdings" panose="05000000000000000000" pitchFamily="2" charset="2"/>
              <a:buChar char="q"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Theme &amp; Interface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— switch between light and dark modes.</a:t>
            </a:r>
          </a:p>
        </p:txBody>
      </p:sp>
    </p:spTree>
    <p:extLst>
      <p:ext uri="{BB962C8B-B14F-4D97-AF65-F5344CB8AC3E}">
        <p14:creationId xmlns:p14="http://schemas.microsoft.com/office/powerpoint/2010/main" val="22739650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0586138-9604-E9D0-22FF-1D790AA856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F0CFF-6E94-3516-2591-8E331E725B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FEATURES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24C0E9-F52F-7735-22C6-483A41A875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Search destinations by name and filter by category.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Sort destinations by name or estimated daily cost.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Calculate trip costs from destination, travel mode, stay, days, and </a:t>
            </a:r>
            <a:r>
              <a:rPr lang="en-IN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travelers</a:t>
            </a:r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Generate suggested itineraries and add, edit, or remove activities.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Save, view, update, and delete trips through the backend API.</a:t>
            </a:r>
          </a:p>
          <a:p>
            <a:pPr lvl="0"/>
            <a:r>
              <a:rPr lang="en-IN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Switch themes; the selected theme is remembered in the browser.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580085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BC61B10-F65C-B598-BABD-8DF7348941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054F7A-34DB-588A-39E5-697B0068D53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BUDGET CALCULATIONS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080D50-282A-CB3D-A75D-CF7EF68AB7E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Budget Calculation</a:t>
            </a:r>
          </a:p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 2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visiting Ooty for 3 days by bus, with a standard stay.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Transport: ₹1,400 × 2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= ₹2,800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Accommodation: ₹2,200 × 1 room × 2 nights = ₹4,400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Food: ₹600 × 2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3 days = ₹3,600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Activities: ₹300 × 2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travelers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× 3 days = ₹1,800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Estimated total: ₹12,600 (₹6,300 per </a:t>
            </a:r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traveler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</a:t>
            </a:r>
          </a:p>
          <a:p>
            <a:pPr marL="0" lv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26167199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3"/>
          <a:srcRect/>
          <a:tile tx="0" ty="0" sx="100000" sy="100000" flip="none" algn="tl"/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A3A3A1C-BA33-7D3F-BC1E-0B79AF64B8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AC58C93-9BAB-8017-53D9-737DE03B25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z="32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CONCLUSIONS</a:t>
            </a:r>
            <a:endParaRPr lang="en-IN" sz="2800" dirty="0">
              <a:solidFill>
                <a:schemeClr val="accent6">
                  <a:lumMod val="7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8217600-D863-2C27-904C-31C7A58BE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IN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TripWise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brings destination discovery, budget estimation, and itinerary planning together in one easy-to-use website.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helps users organize trips and understand estimated expenses before traveling.</a:t>
            </a:r>
          </a:p>
          <a:p>
            <a:pPr lvl="0"/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it currently uses sample prices and basic file storage, it provides a solid foundation for future features such as live data, maps, and user accounts</a:t>
            </a: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/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62739393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Profile">
  <a:themeElements>
    <a:clrScheme name="Profile 9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D"/>
      </a:accent5>
      <a:accent6>
        <a:srgbClr val="B90000"/>
      </a:accent6>
      <a:hlink>
        <a:srgbClr val="336699"/>
      </a:hlink>
      <a:folHlink>
        <a:srgbClr val="003366"/>
      </a:folHlink>
    </a:clrScheme>
    <a:fontScheme name="Profile">
      <a:majorFont>
        <a:latin typeface="Verdana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0" fontAlgn="base" latinLnBrk="0" hangingPunct="0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Profile 1">
        <a:dk1>
          <a:srgbClr val="A50021"/>
        </a:dk1>
        <a:lt1>
          <a:srgbClr val="FFFFFF"/>
        </a:lt1>
        <a:dk2>
          <a:srgbClr val="800000"/>
        </a:dk2>
        <a:lt2>
          <a:srgbClr val="FFFFFF"/>
        </a:lt2>
        <a:accent1>
          <a:srgbClr val="FF9900"/>
        </a:accent1>
        <a:accent2>
          <a:srgbClr val="FF3300"/>
        </a:accent2>
        <a:accent3>
          <a:srgbClr val="C0AAAA"/>
        </a:accent3>
        <a:accent4>
          <a:srgbClr val="DADADA"/>
        </a:accent4>
        <a:accent5>
          <a:srgbClr val="FFCAAA"/>
        </a:accent5>
        <a:accent6>
          <a:srgbClr val="E72D00"/>
        </a:accent6>
        <a:hlink>
          <a:srgbClr val="FFFFCC"/>
        </a:hlink>
        <a:folHlink>
          <a:srgbClr val="FFCC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2">
        <a:dk1>
          <a:srgbClr val="3C001E"/>
        </a:dk1>
        <a:lt1>
          <a:srgbClr val="FFFFFF"/>
        </a:lt1>
        <a:dk2>
          <a:srgbClr val="51072E"/>
        </a:dk2>
        <a:lt2>
          <a:srgbClr val="FFFFFF"/>
        </a:lt2>
        <a:accent1>
          <a:srgbClr val="89A38F"/>
        </a:accent1>
        <a:accent2>
          <a:srgbClr val="666699"/>
        </a:accent2>
        <a:accent3>
          <a:srgbClr val="B3AAAD"/>
        </a:accent3>
        <a:accent4>
          <a:srgbClr val="DADADA"/>
        </a:accent4>
        <a:accent5>
          <a:srgbClr val="C4CEC6"/>
        </a:accent5>
        <a:accent6>
          <a:srgbClr val="5C5C8A"/>
        </a:accent6>
        <a:hlink>
          <a:srgbClr val="80800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3">
        <a:dk1>
          <a:srgbClr val="333333"/>
        </a:dk1>
        <a:lt1>
          <a:srgbClr val="FFFFFF"/>
        </a:lt1>
        <a:dk2>
          <a:srgbClr val="000000"/>
        </a:dk2>
        <a:lt2>
          <a:srgbClr val="FFFFFF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ADADA"/>
        </a:accent4>
        <a:accent5>
          <a:srgbClr val="ADCAFF"/>
        </a:accent5>
        <a:accent6>
          <a:srgbClr val="B90000"/>
        </a:accent6>
        <a:hlink>
          <a:srgbClr val="666699"/>
        </a:hlink>
        <a:folHlink>
          <a:srgbClr val="6600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4">
        <a:dk1>
          <a:srgbClr val="4B3D1B"/>
        </a:dk1>
        <a:lt1>
          <a:srgbClr val="FFFFFF"/>
        </a:lt1>
        <a:dk2>
          <a:srgbClr val="330000"/>
        </a:dk2>
        <a:lt2>
          <a:srgbClr val="FFFFFF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ADADA"/>
        </a:accent4>
        <a:accent5>
          <a:srgbClr val="E2CAAA"/>
        </a:accent5>
        <a:accent6>
          <a:srgbClr val="B95C00"/>
        </a:accent6>
        <a:hlink>
          <a:srgbClr val="666699"/>
        </a:hlink>
        <a:folHlink>
          <a:srgbClr val="CC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5">
        <a:dk1>
          <a:srgbClr val="006666"/>
        </a:dk1>
        <a:lt1>
          <a:srgbClr val="FFFFFF"/>
        </a:lt1>
        <a:dk2>
          <a:srgbClr val="003366"/>
        </a:dk2>
        <a:lt2>
          <a:srgbClr val="FFFFFF"/>
        </a:lt2>
        <a:accent1>
          <a:srgbClr val="0099CC"/>
        </a:accent1>
        <a:accent2>
          <a:srgbClr val="6666FF"/>
        </a:accent2>
        <a:accent3>
          <a:srgbClr val="AAADB8"/>
        </a:accent3>
        <a:accent4>
          <a:srgbClr val="DADADA"/>
        </a:accent4>
        <a:accent5>
          <a:srgbClr val="AACAE2"/>
        </a:accent5>
        <a:accent6>
          <a:srgbClr val="5C5CE7"/>
        </a:accent6>
        <a:hlink>
          <a:srgbClr val="FFFFCC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6">
        <a:dk1>
          <a:srgbClr val="003366"/>
        </a:dk1>
        <a:lt1>
          <a:srgbClr val="FFFFFF"/>
        </a:lt1>
        <a:dk2>
          <a:srgbClr val="006666"/>
        </a:dk2>
        <a:lt2>
          <a:srgbClr val="FFFFFF"/>
        </a:lt2>
        <a:accent1>
          <a:srgbClr val="6699FF"/>
        </a:accent1>
        <a:accent2>
          <a:srgbClr val="00CCFF"/>
        </a:accent2>
        <a:accent3>
          <a:srgbClr val="AAB8B8"/>
        </a:accent3>
        <a:accent4>
          <a:srgbClr val="DADADA"/>
        </a:accent4>
        <a:accent5>
          <a:srgbClr val="B8CAFF"/>
        </a:accent5>
        <a:accent6>
          <a:srgbClr val="00B9E7"/>
        </a:accent6>
        <a:hlink>
          <a:srgbClr val="FFFFCC"/>
        </a:hlink>
        <a:folHlink>
          <a:srgbClr val="33CCCC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7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5"/>
        </a:accent3>
        <a:accent4>
          <a:srgbClr val="000000"/>
        </a:accent4>
        <a:accent5>
          <a:srgbClr val="FFE2AA"/>
        </a:accent5>
        <a:accent6>
          <a:srgbClr val="A5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Profile 8">
        <a:dk1>
          <a:srgbClr val="598600"/>
        </a:dk1>
        <a:lt1>
          <a:srgbClr val="FFFFFF"/>
        </a:lt1>
        <a:dk2>
          <a:srgbClr val="336600"/>
        </a:dk2>
        <a:lt2>
          <a:srgbClr val="FFFFFF"/>
        </a:lt2>
        <a:accent1>
          <a:srgbClr val="33CC33"/>
        </a:accent1>
        <a:accent2>
          <a:srgbClr val="99CC00"/>
        </a:accent2>
        <a:accent3>
          <a:srgbClr val="ADB8AA"/>
        </a:accent3>
        <a:accent4>
          <a:srgbClr val="DADADA"/>
        </a:accent4>
        <a:accent5>
          <a:srgbClr val="ADE2AD"/>
        </a:accent5>
        <a:accent6>
          <a:srgbClr val="8AB900"/>
        </a:accent6>
        <a:hlink>
          <a:srgbClr val="FFCC00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Profile 9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D"/>
        </a:accent5>
        <a:accent6>
          <a:srgbClr val="B9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2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3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4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5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6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7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ppt/theme/themeOverride8.xml><?xml version="1.0" encoding="utf-8"?>
<a:themeOverride xmlns:a="http://schemas.openxmlformats.org/drawingml/2006/main">
  <a:clrScheme name="Profile 9">
    <a:dk1>
      <a:srgbClr val="000000"/>
    </a:dk1>
    <a:lt1>
      <a:srgbClr val="FFFFFF"/>
    </a:lt1>
    <a:dk2>
      <a:srgbClr val="000000"/>
    </a:dk2>
    <a:lt2>
      <a:srgbClr val="DDDDDD"/>
    </a:lt2>
    <a:accent1>
      <a:srgbClr val="A3B2C1"/>
    </a:accent1>
    <a:accent2>
      <a:srgbClr val="CC0000"/>
    </a:accent2>
    <a:accent3>
      <a:srgbClr val="FFFFFF"/>
    </a:accent3>
    <a:accent4>
      <a:srgbClr val="000000"/>
    </a:accent4>
    <a:accent5>
      <a:srgbClr val="CED5DD"/>
    </a:accent5>
    <a:accent6>
      <a:srgbClr val="B90000"/>
    </a:accent6>
    <a:hlink>
      <a:srgbClr val="336699"/>
    </a:hlink>
    <a:folHlink>
      <a:srgbClr val="003366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2553</TotalTime>
  <Words>557</Words>
  <Application>Microsoft Office PowerPoint</Application>
  <PresentationFormat>Widescreen</PresentationFormat>
  <Paragraphs>54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Calibri</vt:lpstr>
      <vt:lpstr>Times New Roman</vt:lpstr>
      <vt:lpstr>Verdana</vt:lpstr>
      <vt:lpstr>Wingdings</vt:lpstr>
      <vt:lpstr>Profile</vt:lpstr>
      <vt:lpstr>PowerPoint Presentation</vt:lpstr>
      <vt:lpstr> INTRODUCTION</vt:lpstr>
      <vt:lpstr>PROBLEM STATEMENT / OBJECTIVE</vt:lpstr>
      <vt:lpstr>TECHNOLOGIES USED</vt:lpstr>
      <vt:lpstr>INTERNSHIP OUTCOME</vt:lpstr>
      <vt:lpstr>PowerPoint Presentation</vt:lpstr>
      <vt:lpstr>DYNAMIC FEATURES</vt:lpstr>
      <vt:lpstr>BUDGET CALCULATIONS</vt:lpstr>
      <vt:lpstr>CONCLUSIONS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Rupmala R</dc:creator>
  <cp:lastModifiedBy>Arya M R</cp:lastModifiedBy>
  <cp:revision>49</cp:revision>
  <dcterms:created xsi:type="dcterms:W3CDTF">2023-08-03T04:32:32Z</dcterms:created>
  <dcterms:modified xsi:type="dcterms:W3CDTF">2026-10-24T18:12:26Z</dcterms:modified>
</cp:coreProperties>
</file>